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52400" cy="5143500"/>
          </a:xfrm>
          <a:prstGeom prst="rect">
            <a:avLst/>
          </a:prstGeom>
          <a:solidFill>
            <a:srgbClr val="2196F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914400" y="1602730"/>
            <a:ext cx="7616952" cy="1341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80"/>
              </a:lnSpc>
              <a:spcAft>
                <a:spcPts val="2000"/>
              </a:spcAft>
              <a:buNone/>
            </a:pPr>
            <a:r>
              <a:rPr lang="en-US" sz="4400" b="1" dirty="0">
                <a:solidFill>
                  <a:srgbClr val="18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coding with CI/CD on GitHub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197870"/>
            <a:ext cx="761695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開発効率と品質を向上させる自動化とAI支援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101626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17450"/>
            <a:ext cx="8031682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34901" y="1419076"/>
            <a:ext cx="7874198" cy="2883396"/>
          </a:xfrm>
          <a:prstGeom prst="rect">
            <a:avLst/>
          </a:prstGeom>
          <a:noFill/>
          <a:ln/>
        </p:spPr>
        <p:txBody>
          <a:bodyPr wrap="square" lIns="158750" tIns="0" rIns="0" bIns="0" rtlCol="0" anchor="t"/>
          <a:lstStyle/>
          <a:p>
            <a:pPr algn="l" marL="158750" indent="-158750">
              <a:lnSpc>
                <a:spcPts val="208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300" dirty="0"/>
          </a:p>
          <a:p>
            <a:pPr algn="l" marL="158750" indent="-158750">
              <a:lnSpc>
                <a:spcPts val="208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Coding with CI/CD</a:t>
            </a:r>
            <a:endParaRPr lang="en-US" sz="1300" dirty="0"/>
          </a:p>
          <a:p>
            <a:pPr algn="l" marL="158750" indent="-158750">
              <a:lnSpc>
                <a:spcPts val="208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と Reusable Workflows</a:t>
            </a:r>
            <a:endParaRPr lang="en-US" sz="1300" dirty="0"/>
          </a:p>
          <a:p>
            <a:pPr algn="l" marL="158750" indent="-158750">
              <a:lnSpc>
                <a:spcPts val="208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Dependabot による依存関係管理</a:t>
            </a:r>
            <a:endParaRPr lang="en-US" sz="1300" dirty="0"/>
          </a:p>
          <a:p>
            <a:pPr algn="l" marL="158750" indent="-158750">
              <a:lnSpc>
                <a:spcPts val="208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の静的解析</a:t>
            </a:r>
            <a:endParaRPr lang="en-US" sz="1300" dirty="0"/>
          </a:p>
          <a:p>
            <a:pPr algn="l" marL="158750" indent="-158750">
              <a:lnSpc>
                <a:spcPts val="208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 と Coding Agent</a:t>
            </a:r>
            <a:endParaRPr lang="en-US" sz="1300" dirty="0"/>
          </a:p>
          <a:p>
            <a:pPr algn="l" marL="158750" indent="-158750">
              <a:lnSpc>
                <a:spcPts val="208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Engineering による出力品質の最適化</a:t>
            </a:r>
            <a:endParaRPr lang="en-US" sz="1300" dirty="0"/>
          </a:p>
          <a:p>
            <a:pPr algn="l" marL="158750" indent="-158750">
              <a:lnSpc>
                <a:spcPts val="208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Spec-driven Development (SDD)</a:t>
            </a:r>
            <a:endParaRPr lang="en-US" sz="1300" dirty="0"/>
          </a:p>
          <a:p>
            <a:pPr algn="l" marL="158750" indent="-158750">
              <a:lnSpc>
                <a:spcPts val="208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228725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81000"/>
            <a:ext cx="8031682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34901" y="1673126"/>
            <a:ext cx="7874198" cy="2451199"/>
          </a:xfrm>
          <a:prstGeom prst="rect">
            <a:avLst/>
          </a:prstGeom>
          <a:noFill/>
          <a:ln/>
        </p:spPr>
        <p:txBody>
          <a:bodyPr wrap="square" lIns="158750" tIns="0" rIns="0" bIns="0" rtlCol="0" anchor="t"/>
          <a:lstStyle/>
          <a:p>
            <a:pPr algn="l" marL="158750" indent="-158750">
              <a:lnSpc>
                <a:spcPts val="245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coding と CI/CD を組み合わせ、開発効率・品質を向上</a:t>
            </a:r>
            <a:pPr algn="l" indent="0" marL="0">
              <a:lnSpc>
                <a:spcPts val="245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algn="l" marL="158750" indent="-158750">
              <a:lnSpc>
                <a:spcPts val="245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CI/CD: GitHub Actions + Dependabot</a:t>
            </a:r>
            <a:endParaRPr lang="en-US" sz="1400" dirty="0"/>
          </a:p>
          <a:p>
            <a:pPr algn="l" marL="158750" indent="-158750">
              <a:lnSpc>
                <a:spcPts val="245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coding: GitHub Copilot</a:t>
            </a:r>
            <a:endParaRPr lang="en-US" sz="1400" dirty="0"/>
          </a:p>
          <a:p>
            <a:pPr algn="l" marL="158750" indent="-158750">
              <a:lnSpc>
                <a:spcPts val="245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コードの</a:t>
            </a:r>
            <a:pPr algn="l" indent="0" marL="0">
              <a:lnSpc>
                <a:spcPts val="2450"/>
              </a:lnSpc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静的解析</a:t>
            </a:r>
            <a:pPr algn="l" indent="0" marL="0">
              <a:lnSpc>
                <a:spcPts val="245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による誤設定・リスクの早期検出</a:t>
            </a:r>
            <a:endParaRPr lang="en-US" sz="1400" dirty="0"/>
          </a:p>
          <a:p>
            <a:pPr algn="l" marL="158750" indent="-158750">
              <a:lnSpc>
                <a:spcPts val="245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 と Agent Skills</a:t>
            </a:r>
            <a:pPr algn="l" indent="0" marL="0">
              <a:lnSpc>
                <a:spcPts val="245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による context engineering で出力品質を最適化</a:t>
            </a:r>
            <a:endParaRPr lang="en-US" sz="1400" dirty="0"/>
          </a:p>
          <a:p>
            <a:pPr algn="l" marL="158750" indent="-158750">
              <a:lnSpc>
                <a:spcPts val="245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Kit</a:t>
            </a:r>
            <a:pPr algn="l" indent="0" marL="0">
              <a:lnSpc>
                <a:spcPts val="245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による Spec-driven Development (SDD) で仕様起点の開発プロセスを実現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52351" y="2060525"/>
            <a:ext cx="7556748" cy="749350"/>
          </a:xfrm>
          <a:prstGeom prst="rect">
            <a:avLst/>
          </a:prstGeom>
          <a:noFill/>
          <a:ln/>
        </p:spPr>
        <p:txBody>
          <a:bodyPr wrap="square" lIns="158750" tIns="0" rIns="0" bIns="0" rtlCol="0" anchor="t"/>
          <a:lstStyle/>
          <a:p>
            <a:pPr algn="l" marL="158750" indent="-158750">
              <a:lnSpc>
                <a:spcPts val="245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CI/CD: GitHub Actions + Dependabot</a:t>
            </a:r>
            <a:endParaRPr lang="en-US" sz="1400" dirty="0"/>
          </a:p>
          <a:p>
            <a:pPr algn="l" marL="158750" indent="-158750">
              <a:lnSpc>
                <a:spcPts val="245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coding: GitHub Copilot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228725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81000"/>
            <a:ext cx="8031682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Coding with CI/CD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34901" y="1673126"/>
            <a:ext cx="382153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500"/>
              </a:spcAft>
              <a:buNone/>
            </a:pPr>
            <a:r>
              <a:rPr lang="en-US" sz="18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coding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34901" y="2130326"/>
            <a:ext cx="3821531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spcAft>
                <a:spcPts val="12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確率論的な生成・推論による実装/修正/レビュー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62500" y="1673126"/>
            <a:ext cx="382153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500"/>
              </a:spcAft>
              <a:buNone/>
            </a:pPr>
            <a:r>
              <a:rPr lang="en-US" sz="18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762500" y="2130326"/>
            <a:ext cx="3821531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spcAft>
                <a:spcPts val="12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決定論的な自動化による修正・検証・デプロイ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4901" y="3308598"/>
            <a:ext cx="7874198" cy="1462385"/>
          </a:xfrm>
          <a:prstGeom prst="roundRect">
            <a:avLst>
              <a:gd name="adj" fmla="val 5211"/>
            </a:avLst>
          </a:prstGeom>
          <a:solidFill>
            <a:srgbClr val="F4F6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658713" y="3308598"/>
            <a:ext cx="0" cy="1462385"/>
          </a:xfrm>
          <a:prstGeom prst="line">
            <a:avLst/>
          </a:prstGeom>
          <a:noFill/>
          <a:ln w="47625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4926" y="3460998"/>
            <a:ext cx="7672209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b="1" dirty="0">
                <a:solidFill>
                  <a:srgbClr val="18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サービス: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34926" y="3826520"/>
            <a:ext cx="7521773" cy="792063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(ワークフロー自動化)</a:t>
            </a:r>
            <a:endParaRPr lang="en-US" sz="1300" dirty="0"/>
          </a:p>
          <a:p>
            <a:pPr algn="l" marL="127000" indent="-127000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Dependabot (依存関係更新)</a:t>
            </a:r>
            <a:endParaRPr lang="en-US" sz="1300" dirty="0"/>
          </a:p>
          <a:p>
            <a:pPr algn="l" marL="127000" indent="-127000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 (AI 開発支援)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101626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17450"/>
            <a:ext cx="8031682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34901" y="1482626"/>
            <a:ext cx="8031682" cy="284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2000"/>
              </a:spcAft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リポジトリ内でワークフローを自動化する CI/CD プラットフォーム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4901" y="2021086"/>
            <a:ext cx="7874198" cy="2140000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21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Workflow: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.github/workflows/*.yml に定義 (YAML)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push / pull_request / workflow_dispatch / schedule など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Job/Step/Action: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job を runner 上で実行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Runner: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GitHub-hosted / self-hosted を選択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Artifacts: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成果物の共有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Cache: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依存キャッシュで高速化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Secrets: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暗号化管理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Environments: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デプロイ先ごとに保護ルール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セキュリティ: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GITHUB_TOKEN 最小権限化 + OIDC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44476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17450"/>
            <a:ext cx="803168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Reusable Workflows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34901" y="1425476"/>
            <a:ext cx="8031682" cy="284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1800"/>
              </a:spcAft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の共通化/標準化 (DRY) → 再利用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4901" y="1938635"/>
            <a:ext cx="7874198" cy="2145209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定義: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on: workflow_call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を宣言 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/ secrets / outputs でインターフェースを固定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呼び出し: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jobs.&lt;job_id&gt;.uses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で呼ぶ 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{owner}/{repo}/.github/workflows/{file}@{ref}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@ref は commit SHA pin 推奨 (安定性/サプライチェーン対策)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使い分け: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reusable workflow は "job/複数 job" の再利用、composite action は "step" の再利用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88802" y="2292102"/>
            <a:ext cx="7620298" cy="258961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04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/ secrets / outputs でインターフェースを固定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8802" y="3031480"/>
            <a:ext cx="7620298" cy="644872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04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{owner}/{repo}/.github/workflows/{file}@{ref}</a:t>
            </a:r>
            <a:endParaRPr lang="en-US" sz="1200" dirty="0"/>
          </a:p>
          <a:p>
            <a:pPr algn="l" marL="127000" indent="-127000">
              <a:lnSpc>
                <a:spcPts val="204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@ref は commit SHA pin 推奨 (安定性/サプライチェーン対策)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101626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17450"/>
            <a:ext cx="8031682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Dependabot Pull Request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34901" y="1482626"/>
            <a:ext cx="8031682" cy="284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1800"/>
              </a:spcAft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依存関係の更新を自動化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4901" y="1995785"/>
            <a:ext cx="7874198" cy="2356098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updates: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定期実行で新バージョンを検知し、更新 PR を作成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updates: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脆弱性アラートに紐づく修正 PR を作成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設定: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.github/dependabot.yml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で ecosystem / directory / schedule を定義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運用: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open-pull-requests-limit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で同時に開く PR 数を制御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ノイズ削減: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groups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で複数更新を 1 PR にまとめる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クールダウン: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cooldown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で更新を一定期間抑制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101626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17450"/>
            <a:ext cx="8031682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Dependabot Alerts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34901" y="1482626"/>
            <a:ext cx="8031682" cy="284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1800"/>
              </a:spcAft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依存関係の既知の脆弱性を検知し、更新/対応を促す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4901" y="1995785"/>
            <a:ext cx="7874198" cy="2317998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検知: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default branch をスキャンし、GitHub Advisory Database と dependency graph を突合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表示: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repo の Security tab / dependency graph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アラート内容: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影響ファイルへのリンク、脆弱性詳細と severity、修正版情報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Dependabot security updates の PR 作成 (有効時) / 手動更新、または理由付き dismiss・reopen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通知: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public repo はデフォルト有効、private repo は有効化が必要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注意: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archived repo は対象外、GitHub Actions は semver tag のみ対象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377851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17450"/>
            <a:ext cx="8031682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analysis for GitHub Actions and Dependabot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34901" y="1758851"/>
            <a:ext cx="8031682" cy="284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1800"/>
              </a:spcAft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誤設定/セキュリティリスクを検出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4901" y="2272010"/>
            <a:ext cx="7874198" cy="280541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リスク: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supply chain attack や command injection 等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34901" y="2743051"/>
            <a:ext cx="3810149" cy="1289745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04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actionlint</a:t>
            </a:r>
            <a:pPr algn="l" indent="0" marL="0">
              <a:lnSpc>
                <a:spcPts val="204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GitHub Actions lint + shellcheck + pyflakes</a:t>
            </a:r>
            <a:endParaRPr lang="en-US" sz="1200" dirty="0"/>
          </a:p>
          <a:p>
            <a:pPr algn="l" marL="127000" indent="-127000">
              <a:lnSpc>
                <a:spcPts val="204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zizmor</a:t>
            </a:r>
            <a:pPr algn="l" indent="0" marL="0">
              <a:lnSpc>
                <a:spcPts val="204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security scan for GitHub Actions</a:t>
            </a:r>
            <a:endParaRPr lang="en-US" sz="1200" dirty="0"/>
          </a:p>
          <a:p>
            <a:pPr algn="l" marL="127000" indent="-127000">
              <a:lnSpc>
                <a:spcPts val="204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checkov</a:t>
            </a:r>
            <a:pPr algn="l" indent="0" marL="0">
              <a:lnSpc>
                <a:spcPts val="204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SCA scan for IaC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698950" y="2743051"/>
            <a:ext cx="3810149" cy="644872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04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trivy</a:t>
            </a:r>
            <a:pPr algn="l" indent="0" marL="0">
              <a:lnSpc>
                <a:spcPts val="204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Security scan and SBOM generation for IaC</a:t>
            </a:r>
            <a:endParaRPr lang="en-US" sz="1200" dirty="0"/>
          </a:p>
          <a:p>
            <a:pPr algn="l" marL="127000" indent="-127000">
              <a:lnSpc>
                <a:spcPts val="204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pinact / ratchet</a:t>
            </a:r>
            <a:pPr algn="l" indent="0" marL="0">
              <a:lnSpc>
                <a:spcPts val="204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SHA pinning for GitHub Actions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101626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17450"/>
            <a:ext cx="8031682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34901" y="1419076"/>
            <a:ext cx="8031682" cy="284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1500"/>
              </a:spcAft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複数のモデルに対応した AI 開発支援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4901" y="1894136"/>
            <a:ext cx="7874198" cy="2239566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suggestions (コード補完)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Chat (対話支援)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coding agent (自律実装)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CLI (ターミナル支援)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code review (差分フィードバック)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PR summaries (PR 要約)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text completion (PR 説明補完)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Edits (複数ファイル変更)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custom instructions (規約組込)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Memory (リポジトリ記憶)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in GitHub Desktop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Spaces (コンテキスト改善)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Spark (アプリ構築)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4286101"/>
            <a:ext cx="7874198" cy="497681"/>
          </a:xfrm>
          <a:prstGeom prst="roundRect">
            <a:avLst>
              <a:gd name="adj" fmla="val 10207"/>
            </a:avLst>
          </a:prstGeom>
          <a:solidFill>
            <a:srgbClr val="F4F6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58713" y="4286101"/>
            <a:ext cx="0" cy="497681"/>
          </a:xfrm>
          <a:prstGeom prst="line">
            <a:avLst/>
          </a:prstGeom>
          <a:noFill/>
          <a:ln w="47625">
            <a:solidFill>
              <a:srgbClr val="FF6B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3026" y="4413052"/>
            <a:ext cx="7594485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requests: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AI モデルや機能毎に消費されるリクエスト枠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44476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17450"/>
            <a:ext cx="803168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 Coding Agent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34901" y="1425476"/>
            <a:ext cx="8031682" cy="284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1800"/>
              </a:spcAft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上で動く自律型 coding agent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4901" y="1938635"/>
            <a:ext cx="7874198" cy="2618780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機能: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指示に基づき実装/修正し、PR を作成/更新してレビュー依頼まで自動化 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コメントで @copilot をメンションして反復修正を依頼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タスク 1 PR、同一リポジトリ内のみ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実行環境: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GitHub Actions を利用して独自のエフェメラル開発環境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観測性: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セッションログで進捗/実行内容/検証結果を追跡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統制: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起動/フィードバックは write 権限ユーザのみ、push は copilot/ ブランチのみ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類似: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Anthropic Claude や OpenAI Codex にも似た機能がある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88802" y="2282577"/>
            <a:ext cx="7620298" cy="644872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04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コメントで @copilot をメンションして反復修正を依頼</a:t>
            </a:r>
            <a:endParaRPr lang="en-US" sz="1200" dirty="0"/>
          </a:p>
          <a:p>
            <a:pPr algn="l" marL="127000" indent="-127000">
              <a:lnSpc>
                <a:spcPts val="204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タスク 1 PR、同一リポジトリ内のみ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06376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17450"/>
            <a:ext cx="803168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engineering for GitHub Copilot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34901" y="1260277"/>
            <a:ext cx="80316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に渡す指示・根拠知識・状態・制約・ツール定義を設計/生成/配信して出力品質を最適化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8802" y="1615827"/>
            <a:ext cx="7620298" cy="823020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176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window に入らない情報は忘れられる</a:t>
            </a:r>
            <a:endParaRPr lang="en-US" sz="1100" dirty="0"/>
          </a:p>
          <a:p>
            <a:pPr algn="l" marL="127000" indent="-127000">
              <a:lnSpc>
                <a:spcPts val="176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Lost in the middle: context の中間付近にある情報は参照されにくい</a:t>
            </a:r>
            <a:endParaRPr lang="en-US" sz="1100" dirty="0"/>
          </a:p>
          <a:p>
            <a:pPr algn="l" marL="127000" indent="-127000">
              <a:lnSpc>
                <a:spcPts val="176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は固定された pre-trained model であり、実務レベルの調整は prompt/context に依存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34901" y="2565797"/>
            <a:ext cx="80316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 での実践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921347"/>
            <a:ext cx="7874198" cy="1355824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176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</a:t>
            </a:r>
            <a:pPr algn="l" indent="0" marL="0">
              <a:lnSpc>
                <a:spcPts val="176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Agent 向けの instructions ファイル (Markdown) </a:t>
            </a:r>
            <a:endParaRPr lang="en-US" sz="1100" dirty="0"/>
          </a:p>
          <a:p>
            <a:pPr algn="l" marL="127000" indent="-127000">
              <a:lnSpc>
                <a:spcPts val="176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階層配置でき、最も近いファイルが適用 (サブディレクトリで上書き)</a:t>
            </a:r>
            <a:endParaRPr lang="en-US" sz="1100" dirty="0"/>
          </a:p>
          <a:p>
            <a:pPr algn="l" marL="127000" indent="-127000">
              <a:lnSpc>
                <a:spcPts val="176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Skills</a:t>
            </a:r>
            <a:pPr algn="l" indent="0" marL="0">
              <a:lnSpc>
                <a:spcPts val="176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タスク特化の手順・判断基準等をパッケージ化し、context へ注入 </a:t>
            </a:r>
            <a:endParaRPr lang="en-US" sz="1100" dirty="0"/>
          </a:p>
          <a:p>
            <a:pPr algn="l" marL="127000" indent="-127000">
              <a:lnSpc>
                <a:spcPts val="176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置き場所: </a:t>
            </a:r>
            <a:pPr algn="l" indent="0" marL="0">
              <a:lnSpc>
                <a:spcPts val="176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.github/skills/&lt;skill&gt;/SKILL.md</a:t>
            </a:r>
            <a:endParaRPr lang="en-US" sz="1100" dirty="0"/>
          </a:p>
          <a:p>
            <a:pPr algn="l" marL="127000" indent="-127000">
              <a:lnSpc>
                <a:spcPts val="176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</a:t>
            </a:r>
            <a:pPr algn="l" indent="0" marL="0">
              <a:lnSpc>
                <a:spcPts val="176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agent から外部の tools/resources/prompts を呼び出す標準プロトコル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8802" y="3182987"/>
            <a:ext cx="7620298" cy="223540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176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階層配置でき、最も近いファイルが適用 (サブディレクトリで上書き)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8802" y="3744367"/>
            <a:ext cx="7620298" cy="233065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176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置き場所: </a:t>
            </a:r>
            <a:pPr algn="l" indent="0" marL="0">
              <a:lnSpc>
                <a:spcPts val="176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.github/skills/&lt;skill&gt;/SKILL.md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101626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17450"/>
            <a:ext cx="8031682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Spec-driven Development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34901" y="1419076"/>
            <a:ext cx="80316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仕様 (Spec) を Source of Truth として扱い、コード生成・変更の起点を仕様に置く開発プロセス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774627"/>
            <a:ext cx="7874198" cy="1366986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Kit</a:t>
            </a:r>
            <a:pPr algn="l" indent="0" marL="0">
              <a:lnSpc>
                <a:spcPts val="192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GitHub が公開した SDD 用 OSS toolkit (</a:t>
            </a:r>
            <a:pPr algn="l" indent="0" marL="0">
              <a:lnSpc>
                <a:spcPts val="192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github/spec-kit</a:t>
            </a:r>
            <a:pPr algn="l" indent="0" marL="0">
              <a:lnSpc>
                <a:spcPts val="192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/speckit.specify</a:t>
            </a:r>
            <a:pPr algn="l" indent="0" marL="0">
              <a:lnSpc>
                <a:spcPts val="192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specs/&lt;feature&gt;/spec.md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/speckit.plan</a:t>
            </a:r>
            <a:pPr algn="l" indent="0" marL="0">
              <a:lnSpc>
                <a:spcPts val="192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plan.md + research.md / data-model.md など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/speckit.tasks</a:t>
            </a:r>
            <a:pPr algn="l" indent="0" marL="0">
              <a:lnSpc>
                <a:spcPts val="192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tasks.md (実行可能なタスクリスト)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/speckit.implement</a:t>
            </a:r>
            <a:pPr algn="l" indent="0" marL="0">
              <a:lnSpc>
                <a:spcPts val="192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実装を進める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8802" y="2075557"/>
            <a:ext cx="7620298" cy="1066056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/speckit.specify</a:t>
            </a:r>
            <a:pPr algn="l" indent="0" marL="0">
              <a:lnSpc>
                <a:spcPts val="150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specs/&lt;feature&gt;/spec.md</a:t>
            </a:r>
            <a:endParaRPr lang="en-US" sz="1000" dirty="0"/>
          </a:p>
          <a:p>
            <a:pPr algn="l"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/speckit.plan</a:t>
            </a:r>
            <a:pPr algn="l" indent="0" marL="0">
              <a:lnSpc>
                <a:spcPts val="150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plan.md + research.md / data-model.md など</a:t>
            </a:r>
            <a:endParaRPr lang="en-US" sz="1000" dirty="0"/>
          </a:p>
          <a:p>
            <a:pPr algn="l"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/speckit.tasks</a:t>
            </a:r>
            <a:pPr algn="l" indent="0" marL="0">
              <a:lnSpc>
                <a:spcPts val="150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tasks.md (実行可能なタスクリスト)</a:t>
            </a:r>
            <a:endParaRPr lang="en-US" sz="1000" dirty="0"/>
          </a:p>
          <a:p>
            <a:pPr algn="l"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/speckit.implement</a:t>
            </a:r>
            <a:pPr algn="l" indent="0" marL="0">
              <a:lnSpc>
                <a:spcPts val="150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実装を進める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34901" y="3268563"/>
            <a:ext cx="7874198" cy="1224558"/>
          </a:xfrm>
          <a:prstGeom prst="roundRect">
            <a:avLst>
              <a:gd name="adj" fmla="val 4148"/>
            </a:avLst>
          </a:prstGeom>
          <a:solidFill>
            <a:srgbClr val="F4F6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658713" y="3268563"/>
            <a:ext cx="0" cy="1224558"/>
          </a:xfrm>
          <a:prstGeom prst="line">
            <a:avLst/>
          </a:prstGeom>
          <a:noFill/>
          <a:ln w="47625">
            <a:solidFill>
              <a:srgbClr val="FF6B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4926" y="3395514"/>
            <a:ext cx="767220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Spec-driven Development vs Plan mode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34926" y="3681264"/>
            <a:ext cx="7521773" cy="659606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16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Spec: リポジトリに残る成果物 / Plan: AI の動作モード</a:t>
            </a:r>
            <a:endParaRPr lang="en-US" sz="1000" dirty="0"/>
          </a:p>
          <a:p>
            <a:pPr algn="l" marL="127000" indent="-127000">
              <a:lnSpc>
                <a:spcPts val="16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Spec: 「何を/何故」/ Plan: 「どう進める」</a:t>
            </a:r>
            <a:endParaRPr lang="en-US" sz="1000" dirty="0"/>
          </a:p>
          <a:p>
            <a:pPr algn="l" marL="127000" indent="-127000">
              <a:lnSpc>
                <a:spcPts val="16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を起点に plan/tasks を派生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101626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17450"/>
            <a:ext cx="8031682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34901" y="1419076"/>
            <a:ext cx="8031682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非同期・並列・自律的に長時間稼働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4901" y="1752451"/>
            <a:ext cx="803168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での事例:</a:t>
            </a:r>
            <a:pPr algn="l" indent="0" marL="0">
              <a:lnSpc>
                <a:spcPts val="165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数百の agent を同一コードベースに同時投入し、数週間スケールで自律的に開発を継続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88802" y="2063502"/>
            <a:ext cx="7620298" cy="710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A6C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ブラウザ実装: 約 1 週間で 1,000 files / 1M+ LoC</a:t>
            </a:r>
            <a:endParaRPr lang="en-US" sz="1000" dirty="0"/>
          </a:p>
          <a:p>
            <a:pPr algn="l"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A6C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 → React 移行: 3 週間超 (+266K / -193K LoC)</a:t>
            </a:r>
            <a:endParaRPr lang="en-US" sz="1000" dirty="0"/>
          </a:p>
          <a:p>
            <a:pPr algn="l"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A6C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rendering の Rust 化: 25x 高速化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34901" y="2900958"/>
            <a:ext cx="803168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協調設計:</a:t>
            </a:r>
            <a:pPr algn="l" indent="0" marL="0">
              <a:lnSpc>
                <a:spcPts val="165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planner (計画) / worker (実装) / judge (継続判断) を分離し、planning 自体も並列化/階層化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4901" y="3237458"/>
            <a:ext cx="8031682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ソフトウェア開発以外への応用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88802" y="3570833"/>
            <a:ext cx="7620298" cy="772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76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SaaS</a:t>
            </a:r>
            <a:endParaRPr lang="en-US" sz="1100" dirty="0"/>
          </a:p>
          <a:p>
            <a:pPr algn="l" marL="342900" indent="-342900">
              <a:lnSpc>
                <a:spcPts val="176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Process Automation</a:t>
            </a:r>
            <a:endParaRPr lang="en-US" sz="1100" dirty="0"/>
          </a:p>
          <a:p>
            <a:pPr algn="l" marL="342900" indent="-342900">
              <a:lnSpc>
                <a:spcPts val="176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AI / Embodied AI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coding with CI/CD on GitHub</dc:title>
  <dc:subject>PptxGenJS Presentation</dc:subject>
  <dc:creator>GitHub CI/CD and AI Coding</dc:creator>
  <cp:lastModifiedBy>GitHub CI/CD and AI Coding</cp:lastModifiedBy>
  <cp:revision>1</cp:revision>
  <dcterms:created xsi:type="dcterms:W3CDTF">2026-01-19T17:54:48Z</dcterms:created>
  <dcterms:modified xsi:type="dcterms:W3CDTF">2026-01-19T17:54:48Z</dcterms:modified>
</cp:coreProperties>
</file>